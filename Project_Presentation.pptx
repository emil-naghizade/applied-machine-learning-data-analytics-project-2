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 nagizade" userId="0b83f97a24154ad2" providerId="LiveId" clId="{17440B6D-C0E7-4240-A9F9-673870F7CB5A}"/>
    <pc:docChg chg="modSld">
      <pc:chgData name="emil nagizade" userId="0b83f97a24154ad2" providerId="LiveId" clId="{17440B6D-C0E7-4240-A9F9-673870F7CB5A}" dt="2026-02-24T17:26:12.785" v="8" actId="6549"/>
      <pc:docMkLst>
        <pc:docMk/>
      </pc:docMkLst>
      <pc:sldChg chg="modSp mod">
        <pc:chgData name="emil nagizade" userId="0b83f97a24154ad2" providerId="LiveId" clId="{17440B6D-C0E7-4240-A9F9-673870F7CB5A}" dt="2026-02-24T17:26:12.785" v="8" actId="6549"/>
        <pc:sldMkLst>
          <pc:docMk/>
          <pc:sldMk cId="0" sldId="256"/>
        </pc:sldMkLst>
        <pc:spChg chg="mod">
          <ac:chgData name="emil nagizade" userId="0b83f97a24154ad2" providerId="LiveId" clId="{17440B6D-C0E7-4240-A9F9-673870F7CB5A}" dt="2026-02-24T17:26:12.785" v="8" actId="6549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70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400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Energy Consumption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 &amp; Prediction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554480" y="2286000"/>
            <a:ext cx="18288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544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CSCI-6767 Applied Machine Learning — Course Project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Riyad </a:t>
            </a:r>
            <a:r>
              <a:rPr lang="en-US" sz="1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Abdurrahimov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Emil Naghizade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account for ~40% of total energy use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prediction enables cost optimization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need demand forecasting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Is consumption HIGH or LOW?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 Predict exact kWh consumed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(binary + multiclass)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Discriminant Analysis (LDA)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Discriminant Analysis (QDA)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Bayes classifier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vs Poisson Regression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920240" cy="54864"/>
          </a:xfrm>
          <a:prstGeom prst="rect">
            <a:avLst/>
          </a:prstGeom>
          <a:solidFill>
            <a:srgbClr val="1A4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4F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06040" y="86868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1920240" cy="54864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36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8686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03720" y="868680"/>
            <a:ext cx="1920240" cy="54864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1,684–6,531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 Range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categories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Residential / Commercial / Industrial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 Footage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 – 49,997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floor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Num. Occupants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– 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People in building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Appliances Used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– 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appliances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Temperature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– 35 °C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temperature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of Week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values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Weekday vs Weekend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Label Encoding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features converted to integers: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Commercial → 0, Industrial → 1, Residential → 2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Weekday → 0, Weekend → 1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on train, applied to test.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65176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Standard Scaling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features standardized: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(x − μ) / σ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to mean=0, std=1.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Scalers fit on training data only.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65176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Target Engineering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median threshold (4,176 kWh)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Above → HIGH (1)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Below → LOW (0)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3-class: tertile boundaries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/ Medium / High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Logistic Regression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&amp; Inference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P(Y=1|X) = e^(βX) / (1 + e^(βX))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Likelihood Estimation (MLE)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Statsmodels provides SE, Z-stat, p-values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Footage: strongest (Z=14.76, p&lt;0.001)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Temperature: non-significant (p=0.17)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VIFs ≈ 1.0 → No multicollinearity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confounders detected in this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Table (statsmodels)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65760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 Footage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2.59e-49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1.47e-23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3.68e-19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6.33e-15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of Week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Temp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93776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Multinomial extension for 3-class problem → next slide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1d. Multi-class Logistic Regression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Multinomial (Softmax) Extension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LR handles 2 classes. For K &gt; 2, we use multinomial logistic regression.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K linear functions and applies the softmax function: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P(Y=k|X) = e^(βₖX) / Σ e^(βₗX)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 probabilities sum to 1. Each observation is assigned to the highest-probability class.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3 classes (tertile-based):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 Energy &lt; 3,733 kWh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 3,733 – 4,638 kWh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 Energy &gt; 4,638 kWh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via One-vs-Rest (OvR) ROC — each class treated as positive vs all others.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77240"/>
            <a:ext cx="429768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3977640"/>
            <a:ext cx="4297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4279392"/>
          <a:ext cx="4023360" cy="5029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to identify low consumers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Hardest — overlaps both neighbors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separation at high 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Discriminant Analysis —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3152" cy="384048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(2a) Linear Discriminant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X|Y=k as multivariate Gaussian with shared covariance Σ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fₖ(x) = N(μₖ, Σ)  for each class k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Bayes’ theorem to get posteriors: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P(Y=k|X) = πₖ fₖ(x) / Σ πₗ fₗ(x)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Σ produces linear decision boundaries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Discriminant score for class k: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δₖ(x) = xᵀΣ⁻¹μₖ − ½μₖᵀΣ⁻¹μₖ + log(πₖ)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to the class with highest δₖ(x)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73152" cy="384048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(2d) Quadratic Discriminant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class gets its own covariance Σₖ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fₖ(x) = N(μₖ, Σₖ)  — class-specific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relaxation means the decision boundary becomes quadratic (curved) rather than linear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discriminant score: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δₖ(x) = −½ log|Σₖ| − ½(x−μₖ)ᵀΣₖ⁻¹(x−μₖ) + log(πₖ)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flexible than LDA — better when class spreads differ significantly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more parameters to estimate, higher variance with small 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Discriminant Analysis — Threshold &amp; ROC Curve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(2b) Defining Effective Threshold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threshold is 0.5, but often suboptimal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the ROC curve to find the optimal threshold by maximizing Youden’s J statistic: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TPR − FPR = Sens + Spec − 1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optimal point is the point on the ROC curve farthest from the diagonal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optimal threshold = 0.764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QDA optimal threshold = 0.788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&gt; 0.5: models require higher confidence before predicting HIGH energy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(2c) ROC Curve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 True Positive Rate (sensitivity) vs False Positive Rate (1−specificity) at all thresholds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 = TP/(TP+FN) — actual positives caught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 = FP/(FP+TN) — negatives wrongly flagged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(Area Under Curve) summarizes performance: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1.0 → Perfect classifier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0.5 → Random guessing (diagonal)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&gt; 0.9 → Excellent discrimination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curve hugging the top-left corner means strong class separation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Discriminant Analysis — LDA vs QDA ROC Curves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621792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of Results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LDA: AUC = 0.960, optimal θ = 0.764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At this threshold: Accuracy = 91%, Precision = 1.000, Recall = 0.830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QDA: AUC = 0.965, optimal θ = 0.788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At this threshold: Accuracy = 91%, Precision = 1.000, Recall = 0.830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0" y="3703320"/>
            <a:ext cx="192024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0" y="3749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curves hug the top-left corner closely, confirming excellent class separation. QDA’s slightly higher AUC suggests its flexible boundaries capture marginally more structure.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Naïve Bayes &amp; Full Model Comparison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38912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7772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12064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Bayes Classifier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20640" y="1234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conditional independence: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A4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P(X|Y=k) = ∏ P(Xⱼ|Y=k)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 modeled as Gaussian per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yet competitive baseline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606040"/>
          <a:ext cx="3840480" cy="18288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ROC curves are tightly clustered near the top-left → all four methods achieve excellent, near-identical discrimination on this dataset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Linear vs Poisson Regression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66928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7772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6364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2377440" cy="137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34290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outperforms Poisson on all metrics. 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consumption is a continuous variable (kWh), not count data, so the identity link of OLS is a better fit than Poisson’s log-link. The scatter plot shows both models track the ideal line closely, but Linear Regression’s residuals are more tightly distributed around zero. R² = 0.814 means ~81% of energy variance is explained by our six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Confounding Analysis &amp; Feature Importance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023360" cy="31546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77240"/>
            <a:ext cx="4206240" cy="2377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0" y="32461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709160" y="32918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VIF values ≈ 1.0 → no multicollinearity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confounders detected (features are independent)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Footage dominates (coeff 3.46)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Occupants and Appliances are strong secondary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Temperature has minimal predictive power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Streamlit 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inference from all models with adjustable thresholds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097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Details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table, SE, Z-statistics, p-values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972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5508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&amp; QDA ROC curves with optimal threshold markers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0632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metrics, ROC overlay, and bar charts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28803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0632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7472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vs Predicted &amp; Residual plots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28803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0632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35508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coefficients for LR, LDA, Linear Reg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classification accuracy with AUC &gt; 0.95 across all four classifiers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(AUC=0.960) and QDA (AUC=0.965) both achieve excellent discrimination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thresholds (0.764 and 0.788) yield perfect precision with 83% recall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explains 81% of energy variance (R² = 0.814)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Footage is the dominant predictor; no confounders detected</a:t>
            </a:r>
            <a:endParaRPr lang="en-US" sz="1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app enables real-time exploration and prediction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40080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1423</Words>
  <Application>Microsoft Office PowerPoint</Application>
  <PresentationFormat>On-screen Show (16:9)</PresentationFormat>
  <Paragraphs>303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Classification</dc:title>
  <dc:subject>PptxGenJS Presentation</dc:subject>
  <dc:creator>Riyad Abdurrahmanov, Emil Naghizade</dc:creator>
  <cp:lastModifiedBy>emil nagizade</cp:lastModifiedBy>
  <cp:revision>2</cp:revision>
  <dcterms:created xsi:type="dcterms:W3CDTF">2026-02-24T10:30:42Z</dcterms:created>
  <dcterms:modified xsi:type="dcterms:W3CDTF">2026-02-24T17:26:16Z</dcterms:modified>
</cp:coreProperties>
</file>
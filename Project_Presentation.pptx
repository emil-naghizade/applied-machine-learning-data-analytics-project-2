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 nagizade" userId="0b83f97a24154ad2" providerId="LiveId" clId="{17440B6D-C0E7-4240-A9F9-673870F7CB5A}"/>
    <pc:docChg chg="modSld">
      <pc:chgData name="emil nagizade" userId="0b83f97a24154ad2" providerId="LiveId" clId="{17440B6D-C0E7-4240-A9F9-673870F7CB5A}" dt="2026-02-24T09:48:46.563" v="57" actId="1036"/>
      <pc:docMkLst>
        <pc:docMk/>
      </pc:docMkLst>
      <pc:sldChg chg="modSp mod">
        <pc:chgData name="emil nagizade" userId="0b83f97a24154ad2" providerId="LiveId" clId="{17440B6D-C0E7-4240-A9F9-673870F7CB5A}" dt="2026-02-24T09:48:46.563" v="57" actId="1036"/>
        <pc:sldMkLst>
          <pc:docMk/>
          <pc:sldMk cId="0" sldId="260"/>
        </pc:sldMkLst>
        <pc:spChg chg="mod">
          <ac:chgData name="emil nagizade" userId="0b83f97a24154ad2" providerId="LiveId" clId="{17440B6D-C0E7-4240-A9F9-673870F7CB5A}" dt="2026-02-24T09:48:46.563" v="57" actId="1036"/>
          <ac:spMkLst>
            <pc:docMk/>
            <pc:sldMk cId="0" sldId="260"/>
            <ac:spMk id="8" creationId="{00000000-0000-0000-0000-000000000000}"/>
          </ac:spMkLst>
        </pc:spChg>
        <pc:graphicFrameChg chg="modGraphic">
          <ac:chgData name="emil nagizade" userId="0b83f97a24154ad2" providerId="LiveId" clId="{17440B6D-C0E7-4240-A9F9-673870F7CB5A}" dt="2026-02-24T09:44:45.535" v="55" actId="20577"/>
          <ac:graphicFrameMkLst>
            <pc:docMk/>
            <pc:sldMk cId="0" sldId="260"/>
            <ac:graphicFrameMk id="10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31755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B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91440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54480" y="64008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Energy Consumption</a:t>
            </a:r>
            <a:endParaRPr lang="en-US" sz="3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Classification &amp; Prediction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1554480" y="2286000"/>
            <a:ext cx="1828800" cy="36576"/>
          </a:xfrm>
          <a:prstGeom prst="rect">
            <a:avLst/>
          </a:prstGeom>
          <a:solidFill>
            <a:srgbClr val="E8A8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554480" y="25603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A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CSCI-6767 Applied Machine Learning — Course Project 2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554480" y="3130059"/>
            <a:ext cx="4572000" cy="506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Riyad </a:t>
            </a:r>
            <a:r>
              <a:rPr lang="en-US" sz="18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Abdurrahmanov</a:t>
            </a:r>
            <a:endParaRPr lang="en-US" sz="1800" dirty="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Emil </a:t>
            </a:r>
            <a:r>
              <a:rPr lang="en-US" dirty="0" err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Naghizade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554480" y="3759589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 University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Problem &amp; Motivation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1887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188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1737360"/>
            <a:ext cx="34747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Buildings account for ~40% of total energy use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Accurate prediction enables cost optimization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Operators need demand forecasting tools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Classification: Is consumption HIGH or LOW?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Regression: Predict exact kWh consumed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1005840"/>
            <a:ext cx="393192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18872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0680" y="1188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Approach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5029200" y="1737360"/>
            <a:ext cx="34747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 (binary + multiclass)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Discriminant Analysis (LDA)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Quadratic Discriminant Analysis (QDA)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Naïve Bayes classifier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vs Poisson Regression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Dataset Overview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920240" cy="54864"/>
          </a:xfrm>
          <a:prstGeom prst="rect">
            <a:avLst/>
          </a:prstGeom>
          <a:solidFill>
            <a:srgbClr val="1A4F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A4F7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1,100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06040" y="8686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606040" y="868680"/>
            <a:ext cx="1920240" cy="5486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606040" y="10058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2E7D3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606040" y="14630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8686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754880" y="868680"/>
            <a:ext cx="1920240" cy="54864"/>
          </a:xfrm>
          <a:prstGeom prst="rect">
            <a:avLst/>
          </a:prstGeom>
          <a:solidFill>
            <a:srgbClr val="BF36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0" y="10058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BF360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754880" y="14630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Types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03720" y="8686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903720" y="868680"/>
            <a:ext cx="1920240" cy="54864"/>
          </a:xfrm>
          <a:prstGeom prst="rect">
            <a:avLst/>
          </a:prstGeom>
          <a:solidFill>
            <a:srgbClr val="6A1B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903720" y="10058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A1B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1,684–6,531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903720" y="14630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kWh Range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48840"/>
          <a:ext cx="8229600" cy="2743202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18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2B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8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Building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Categorical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categories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Residential / Commercial / Industrial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8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Square Footage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Continuous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 – 49,997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Building floor 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8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Num. Occupants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– 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People in building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8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Appliances Used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– 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appliances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8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Avg. Temperature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Continuous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– 35 °C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Ambient temperature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8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of Week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values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Weekday vs Weekend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Preprocessing Pipeline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265176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651760" cy="54864"/>
          </a:xfrm>
          <a:prstGeom prst="rect">
            <a:avLst/>
          </a:prstGeom>
          <a:solidFill>
            <a:srgbClr val="E8A8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972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Label Encoding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1600200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Categorical features converted to integers: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Commercial → 0, Industrial → 1, Residential → 2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Weekday → 0, Weekend → 1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on train, applied to test.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914400"/>
            <a:ext cx="265176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337560" y="914400"/>
            <a:ext cx="2651760" cy="54864"/>
          </a:xfrm>
          <a:prstGeom prst="rect">
            <a:avLst/>
          </a:prstGeom>
          <a:solidFill>
            <a:srgbClr val="E8A8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474720" y="10972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Standard Scaling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74720" y="1600200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features standardized: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= (x − μ) / σ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Centered to mean=0, std=1.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Scalers fit on training data only.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914400"/>
            <a:ext cx="265176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914400"/>
            <a:ext cx="2651760" cy="54864"/>
          </a:xfrm>
          <a:prstGeom prst="rect">
            <a:avLst/>
          </a:prstGeom>
          <a:solidFill>
            <a:srgbClr val="E8A8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55080" y="10972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Target Engineering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55080" y="1600200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Binary: median threshold (4,176 kWh)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Above → HIGH (1)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Below → LOW (0)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3-class: tertile boundaries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Low / Medium / High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 Logistic Regression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393192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Theory &amp; Inference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4F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P(Y=1|X) = e^(βX) / (1 + e^(βX))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Likelihood Estimation (MLE)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Statsmodels provides SE, Z-stat, p-values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Square Footage: strongest (Z=14.76, p&lt;0.001)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Temperature: non-significant (p=0.17)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VIFs ≈ 1.0 → No multicollinearity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confounders detected in this dataset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837028"/>
            <a:ext cx="393192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937760" y="914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Coefficient Table (statsmodels)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0513748"/>
              </p:ext>
            </p:extLst>
          </p:nvPr>
        </p:nvGraphicFramePr>
        <p:xfrm>
          <a:off x="4846320" y="1371600"/>
          <a:ext cx="3657600" cy="2285997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Coef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p-val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2B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 Footage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2.59e-49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Occupants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1.47e-23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Appliances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3.68e-19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Building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−7.80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6.33e-15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of Week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−0.487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Temp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937760" y="38404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Multinomial LR also trained for 3-class (Low/Med/High)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 Discriminant Analysis — Methodology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393192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73152" cy="3840480"/>
          </a:xfrm>
          <a:prstGeom prst="rect">
            <a:avLst/>
          </a:prstGeom>
          <a:solidFill>
            <a:srgbClr val="2196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(2a) Linear Discriminant Analysis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417320"/>
            <a:ext cx="3474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X|Y=k as multivariate Gaussian with shared covariance Σ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00" dirty="0">
                <a:solidFill>
                  <a:srgbClr val="1A4F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fₖ(x) = N(μₖ, Σ)  for each class k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Bayes’ theorem to get posteriors:</a:t>
            </a:r>
            <a:endParaRPr lang="en-US" sz="1150" dirty="0"/>
          </a:p>
          <a:p>
            <a:pPr marL="0" indent="0">
              <a:buNone/>
            </a:pPr>
            <a:r>
              <a:rPr lang="en-US" sz="1100" dirty="0">
                <a:solidFill>
                  <a:srgbClr val="1A4F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P(Y=k|X) = πₖ fₖ(x) / Σ πₗ fₗ(x)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Σ produces linear decision boundaries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Discriminant score for class k:</a:t>
            </a:r>
            <a:endParaRPr lang="en-US" sz="1150" dirty="0"/>
          </a:p>
          <a:p>
            <a:pPr marL="0" indent="0">
              <a:buNone/>
            </a:pPr>
            <a:r>
              <a:rPr lang="en-US" sz="1000" dirty="0">
                <a:solidFill>
                  <a:srgbClr val="1A4F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δₖ(x) = xᵀΣ⁻¹μₖ − ½μₖᵀΣ⁻¹μₖ + log(πₖ)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 to the class with highest δₖ(x)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393192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54880" y="868680"/>
            <a:ext cx="73152" cy="3840480"/>
          </a:xfrm>
          <a:prstGeom prst="rect">
            <a:avLst/>
          </a:prstGeom>
          <a:solidFill>
            <a:srgbClr val="FF98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0" y="960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(2d) Quadratic Discriminant Analysis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0" y="1417320"/>
            <a:ext cx="3474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class gets its own covariance Σₖ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00" dirty="0">
                <a:solidFill>
                  <a:srgbClr val="1A4F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fₖ(x) = N(μₖ, Σₖ)  — class-specific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relaxation means the decision boundary becomes quadratic (curved) rather than linear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Quadratic discriminant score:</a:t>
            </a:r>
            <a:endParaRPr lang="en-US" sz="1150" dirty="0"/>
          </a:p>
          <a:p>
            <a:pPr marL="0" indent="0">
              <a:buNone/>
            </a:pPr>
            <a:r>
              <a:rPr lang="en-US" sz="950" dirty="0">
                <a:solidFill>
                  <a:srgbClr val="1A4F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δₖ(x) = −½ log|Σₖ| − ½(x−μₖ)ᵀΣₖ⁻¹(x−μₖ) + log(πₖ)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flexible than LDA — better when class spreads differ significantly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more parameters to estimate, higher variance with small n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 Discriminant Analysis — Threshold &amp; ROC Curve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393192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(2b) Defining Effective Threshold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5661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threshold is 0.5, but often suboptimal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use the ROC curve to find the optimal threshold by maximizing Youden’s J statistic: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00" dirty="0">
                <a:solidFill>
                  <a:srgbClr val="1A4F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 = TPR − FPR = Sens + Spec − 1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optimal point is the point on the ROC curve farthest from the diagonal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Results: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LDA optimal threshold = 0.764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QDA optimal threshold = 0.788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&gt; 0.5: models require higher confidence before predicting HIGH energy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54880" y="868680"/>
            <a:ext cx="393192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937760" y="9601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(2c) ROC Curve — What Is It?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1463040"/>
            <a:ext cx="35661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Plots True Positive Rate (sensitivity) vs False Positive Rate (1−specificity) at all thresholds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050" dirty="0">
                <a:solidFill>
                  <a:srgbClr val="1A4F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TPR = TP/(TP+FN) — actual positives caught</a:t>
            </a:r>
            <a:endParaRPr lang="en-US" sz="1150" dirty="0"/>
          </a:p>
          <a:p>
            <a:pPr marL="0" indent="0">
              <a:buNone/>
            </a:pPr>
            <a:r>
              <a:rPr lang="en-US" sz="1050" dirty="0">
                <a:solidFill>
                  <a:srgbClr val="1A4F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FPR = FP/(FP+TN) — negatives wrongly flagged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(Area Under Curve) summarizes performance: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= 1.0 → Perfect classifier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= 0.5 → Random guessing (diagonal)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&gt; 0.9 → Excellent discrimination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curve hugging the top-left corner means strong class separation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 Discriminant Analysis — LDA vs QDA ROC Curves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6217920" cy="2606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3566160"/>
            <a:ext cx="82296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" y="3611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 of Results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93192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D8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LDA: AUC = 0.960, optimal θ = 0.764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At this threshold: Accuracy = 91%, Precision = 1.000, Recall = 0.830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55A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QDA: AUC = 0.965, optimal θ = 0.788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At this threshold: Accuracy = 91%, Precision = 1.000, Recall = 0.830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583680" y="3703320"/>
            <a:ext cx="1920240" cy="1097280"/>
          </a:xfrm>
          <a:prstGeom prst="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75120" y="37490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curves hug the top-left corner closely, confirming excellent class separation. QDA’s slightly higher AUC suggests its flexible boundaries capture marginally more structure.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3. Naïve Bayes &amp; Full Model Comparison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4389120" cy="3154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0" y="77724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120640" y="8686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Naïve Bayes Classifier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120640" y="123444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Assumes conditional independence:</a:t>
            </a:r>
            <a:endParaRPr lang="en-US" sz="1100" dirty="0"/>
          </a:p>
          <a:p>
            <a:pPr marL="0" indent="0">
              <a:buNone/>
            </a:pPr>
            <a:r>
              <a:rPr lang="en-US" sz="1050" dirty="0">
                <a:solidFill>
                  <a:srgbClr val="1A4F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P(X|Y=k) = ∏ P(Xⱼ|Y=k)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feature modeled as Gaussian per class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yet competitive baseline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2606040"/>
          <a:ext cx="3840480" cy="1828800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2B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ROC curves are tightly clustered near the top-left → all four methods achieve excellent, near-identical discrimination on this dataset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4. Linear vs Poisson Regression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777240"/>
            <a:ext cx="5669280" cy="2377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0" y="777240"/>
            <a:ext cx="265176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263640" y="868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80160"/>
          <a:ext cx="2377440" cy="13716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Poisson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2B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R²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RMSE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357.1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332.1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347.6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3337560"/>
            <a:ext cx="822960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640080" y="342900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 outperforms Poisson on all metrics. </a:t>
            </a: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consumption is a continuous variable (kWh), not count data, so the identity link of OLS is a better fit than Poisson’s log-link. The scatter plot shows both models track the ideal line closely, but Linear Regression’s residuals are more tightly distributed around zero. R² = 0.814 means ~81% of energy variance is explained by our six features.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Confounding Analysis &amp; Feature Importance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4023360" cy="315468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777240"/>
            <a:ext cx="4206240" cy="23774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0" y="3246120"/>
            <a:ext cx="42062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4709160" y="3291840"/>
            <a:ext cx="3931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VIF values ≈ 1.0 → no multicollinearity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confounders detected (features are independent)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Square Footage dominates (coeff 3.46)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Occupants and Appliances are strong secondary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Temperature has minimal predictive power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Interactive Streamlit Application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26517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94360" y="15544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inference from all models with adjustable thresholds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37560" y="914400"/>
            <a:ext cx="26517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109728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8620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LR Details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3474720" y="15544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Coefficient table, SE, Z-statistics, p-values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217920" y="914400"/>
            <a:ext cx="26517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097280"/>
            <a:ext cx="320040" cy="3200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76656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Discriminant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6355080" y="15544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LDA &amp; QDA ROC curves with optimal threshold markers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2880360"/>
            <a:ext cx="26517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3063240"/>
            <a:ext cx="320040" cy="32004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05840" y="30632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94360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metrics, ROC overlay, and bar charts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3337560" y="2880360"/>
            <a:ext cx="26517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0" y="3063240"/>
            <a:ext cx="320040" cy="32004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886200" y="30632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3474720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vs Predicted &amp; Residual plots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217920" y="2880360"/>
            <a:ext cx="26517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3063240"/>
            <a:ext cx="320040" cy="32004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766560" y="30632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Importance</a:t>
            </a:r>
            <a:endParaRPr lang="en-US" sz="1400" dirty="0"/>
          </a:p>
        </p:txBody>
      </p:sp>
      <p:sp>
        <p:nvSpPr>
          <p:cNvPr id="27" name="Text 19"/>
          <p:cNvSpPr/>
          <p:nvPr/>
        </p:nvSpPr>
        <p:spPr>
          <a:xfrm>
            <a:off x="6355080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coefficients for LR, LDA, Linear Reg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B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1371600" cy="36576"/>
          </a:xfrm>
          <a:prstGeom prst="rect">
            <a:avLst/>
          </a:prstGeom>
          <a:solidFill>
            <a:srgbClr val="E8A83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173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91% classification accuracy with AUC &gt; 0.95 across all four classifiers</a:t>
            </a:r>
            <a:endParaRPr lang="en-US" sz="15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65960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51560" y="1965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LDA (AUC=0.960) and QDA (AUC=0.965) both achieve excellent discrimination</a:t>
            </a:r>
            <a:endParaRPr lang="en-US" sz="15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1460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2514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thresholds (0.764 and 0.788) yield perfect precision with 83% recall</a:t>
            </a:r>
            <a:endParaRPr lang="en-US" sz="15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06324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51560" y="3063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 explains 81% of energy variance (R² = 0.814)</a:t>
            </a:r>
            <a:endParaRPr lang="en-US" sz="15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11880"/>
            <a:ext cx="274320" cy="27432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051560" y="3611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Square Footage is the dominant predictor; no confounders detected</a:t>
            </a:r>
            <a:endParaRPr lang="en-US" sz="150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60520"/>
            <a:ext cx="274320" cy="27432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051560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Streamlit app enables real-time exploration and prediction</a:t>
            </a:r>
            <a:endParaRPr lang="en-US" sz="1500" dirty="0"/>
          </a:p>
        </p:txBody>
      </p:sp>
      <p:sp>
        <p:nvSpPr>
          <p:cNvPr id="17" name="Text 9"/>
          <p:cNvSpPr/>
          <p:nvPr/>
        </p:nvSpPr>
        <p:spPr>
          <a:xfrm>
            <a:off x="640080" y="45720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1287</Words>
  <Application>Microsoft Office PowerPoint</Application>
  <PresentationFormat>On-screen Show (16:9)</PresentationFormat>
  <Paragraphs>273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Arial Black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 Consumption Classification</dc:title>
  <dc:subject>PptxGenJS Presentation</dc:subject>
  <dc:creator>Emil Mammadov</dc:creator>
  <cp:lastModifiedBy>emil nagizade</cp:lastModifiedBy>
  <cp:revision>2</cp:revision>
  <dcterms:created xsi:type="dcterms:W3CDTF">2026-02-24T07:18:58Z</dcterms:created>
  <dcterms:modified xsi:type="dcterms:W3CDTF">2026-02-24T09:48:51Z</dcterms:modified>
</cp:coreProperties>
</file>